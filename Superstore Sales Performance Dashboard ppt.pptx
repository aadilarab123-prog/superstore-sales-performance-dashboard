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146127-D56C-488A-A9BE-0E6183A6543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951FB20-A80B-4FB2-8390-795ACE50285F}">
      <dgm:prSet/>
      <dgm:spPr/>
      <dgm:t>
        <a:bodyPr/>
        <a:lstStyle/>
        <a:p>
          <a:pPr>
            <a:defRPr cap="all"/>
          </a:pPr>
          <a:r>
            <a:rPr lang="en-US" b="1"/>
            <a:t>Dataset</a:t>
          </a:r>
          <a:endParaRPr lang="en-US"/>
        </a:p>
      </dgm:t>
    </dgm:pt>
    <dgm:pt modelId="{1E6E3E14-514A-404E-BE31-76B426A4B5B8}" type="parTrans" cxnId="{03A1402C-FE48-4C78-B2C1-57FCAAFA334C}">
      <dgm:prSet/>
      <dgm:spPr/>
      <dgm:t>
        <a:bodyPr/>
        <a:lstStyle/>
        <a:p>
          <a:endParaRPr lang="en-US"/>
        </a:p>
      </dgm:t>
    </dgm:pt>
    <dgm:pt modelId="{A7CB95E3-E3A9-42BA-A7DE-6835429701BB}" type="sibTrans" cxnId="{03A1402C-FE48-4C78-B2C1-57FCAAFA334C}">
      <dgm:prSet/>
      <dgm:spPr/>
      <dgm:t>
        <a:bodyPr/>
        <a:lstStyle/>
        <a:p>
          <a:endParaRPr lang="en-US"/>
        </a:p>
      </dgm:t>
    </dgm:pt>
    <dgm:pt modelId="{5BDB8863-4706-4ADD-AE0E-DA58E690D89F}">
      <dgm:prSet/>
      <dgm:spPr/>
      <dgm:t>
        <a:bodyPr/>
        <a:lstStyle/>
        <a:p>
          <a:pPr>
            <a:defRPr cap="all"/>
          </a:pPr>
          <a:r>
            <a:rPr lang="en-US"/>
            <a:t>Superstore Sales Dataset</a:t>
          </a:r>
        </a:p>
      </dgm:t>
    </dgm:pt>
    <dgm:pt modelId="{C348E1C3-CF8A-41BC-967C-6B21EA26CB66}" type="parTrans" cxnId="{8EF77A39-E821-44CD-A459-81D282E63DC6}">
      <dgm:prSet/>
      <dgm:spPr/>
      <dgm:t>
        <a:bodyPr/>
        <a:lstStyle/>
        <a:p>
          <a:endParaRPr lang="en-US"/>
        </a:p>
      </dgm:t>
    </dgm:pt>
    <dgm:pt modelId="{6FF973AA-B808-4CC2-931F-F66EEB1ADC47}" type="sibTrans" cxnId="{8EF77A39-E821-44CD-A459-81D282E63DC6}">
      <dgm:prSet/>
      <dgm:spPr/>
      <dgm:t>
        <a:bodyPr/>
        <a:lstStyle/>
        <a:p>
          <a:endParaRPr lang="en-US"/>
        </a:p>
      </dgm:t>
    </dgm:pt>
    <dgm:pt modelId="{502186B5-A499-4D19-99D7-9E0510D3D6DB}" type="pres">
      <dgm:prSet presAssocID="{3E146127-D56C-488A-A9BE-0E6183A6543F}" presName="root" presStyleCnt="0">
        <dgm:presLayoutVars>
          <dgm:dir/>
          <dgm:resizeHandles val="exact"/>
        </dgm:presLayoutVars>
      </dgm:prSet>
      <dgm:spPr/>
    </dgm:pt>
    <dgm:pt modelId="{E320EC37-5F29-422B-91EB-4CA0C8976AB9}" type="pres">
      <dgm:prSet presAssocID="{6951FB20-A80B-4FB2-8390-795ACE50285F}" presName="compNode" presStyleCnt="0"/>
      <dgm:spPr/>
    </dgm:pt>
    <dgm:pt modelId="{BEEDB959-BB92-4FEF-80F1-E6BAC609F3A9}" type="pres">
      <dgm:prSet presAssocID="{6951FB20-A80B-4FB2-8390-795ACE50285F}" presName="iconBgRect" presStyleLbl="bgShp" presStyleIdx="0" presStyleCnt="2"/>
      <dgm:spPr/>
    </dgm:pt>
    <dgm:pt modelId="{D618E4FC-58C2-4F5A-907F-109632DA8EFF}" type="pres">
      <dgm:prSet presAssocID="{6951FB20-A80B-4FB2-8390-795ACE50285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C383067D-5C74-48E7-988B-5FD6234F04D1}" type="pres">
      <dgm:prSet presAssocID="{6951FB20-A80B-4FB2-8390-795ACE50285F}" presName="spaceRect" presStyleCnt="0"/>
      <dgm:spPr/>
    </dgm:pt>
    <dgm:pt modelId="{21AD7950-2171-401F-96E4-9B5DEB9B6362}" type="pres">
      <dgm:prSet presAssocID="{6951FB20-A80B-4FB2-8390-795ACE50285F}" presName="textRect" presStyleLbl="revTx" presStyleIdx="0" presStyleCnt="2">
        <dgm:presLayoutVars>
          <dgm:chMax val="1"/>
          <dgm:chPref val="1"/>
        </dgm:presLayoutVars>
      </dgm:prSet>
      <dgm:spPr/>
    </dgm:pt>
    <dgm:pt modelId="{3AE08D26-68B8-49DC-82BB-7A8053AD337E}" type="pres">
      <dgm:prSet presAssocID="{A7CB95E3-E3A9-42BA-A7DE-6835429701BB}" presName="sibTrans" presStyleCnt="0"/>
      <dgm:spPr/>
    </dgm:pt>
    <dgm:pt modelId="{004A728B-97EE-4B20-BA1F-0F6CD5733BE1}" type="pres">
      <dgm:prSet presAssocID="{5BDB8863-4706-4ADD-AE0E-DA58E690D89F}" presName="compNode" presStyleCnt="0"/>
      <dgm:spPr/>
    </dgm:pt>
    <dgm:pt modelId="{5584B193-9270-4A31-96F7-D15752207E48}" type="pres">
      <dgm:prSet presAssocID="{5BDB8863-4706-4ADD-AE0E-DA58E690D89F}" presName="iconBgRect" presStyleLbl="bgShp" presStyleIdx="1" presStyleCnt="2"/>
      <dgm:spPr/>
    </dgm:pt>
    <dgm:pt modelId="{79D0588E-C7BE-41C4-9D2D-3711014C4EBA}" type="pres">
      <dgm:prSet presAssocID="{5BDB8863-4706-4ADD-AE0E-DA58E690D89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CB0A6AAF-4516-4EE1-A091-60BB43A17FCD}" type="pres">
      <dgm:prSet presAssocID="{5BDB8863-4706-4ADD-AE0E-DA58E690D89F}" presName="spaceRect" presStyleCnt="0"/>
      <dgm:spPr/>
    </dgm:pt>
    <dgm:pt modelId="{400607DE-F9C6-4F1D-994E-49AC4401F64A}" type="pres">
      <dgm:prSet presAssocID="{5BDB8863-4706-4ADD-AE0E-DA58E690D89F}" presName="textRect" presStyleLbl="revTx" presStyleIdx="1" presStyleCnt="2">
        <dgm:presLayoutVars>
          <dgm:chMax val="1"/>
          <dgm:chPref val="1"/>
        </dgm:presLayoutVars>
      </dgm:prSet>
      <dgm:spPr/>
    </dgm:pt>
  </dgm:ptLst>
  <dgm:cxnLst>
    <dgm:cxn modelId="{03A1402C-FE48-4C78-B2C1-57FCAAFA334C}" srcId="{3E146127-D56C-488A-A9BE-0E6183A6543F}" destId="{6951FB20-A80B-4FB2-8390-795ACE50285F}" srcOrd="0" destOrd="0" parTransId="{1E6E3E14-514A-404E-BE31-76B426A4B5B8}" sibTransId="{A7CB95E3-E3A9-42BA-A7DE-6835429701BB}"/>
    <dgm:cxn modelId="{4DCB1D2D-245B-49A7-9658-B1F094C19B38}" type="presOf" srcId="{5BDB8863-4706-4ADD-AE0E-DA58E690D89F}" destId="{400607DE-F9C6-4F1D-994E-49AC4401F64A}" srcOrd="0" destOrd="0" presId="urn:microsoft.com/office/officeart/2018/5/layout/IconCircleLabelList"/>
    <dgm:cxn modelId="{8EF77A39-E821-44CD-A459-81D282E63DC6}" srcId="{3E146127-D56C-488A-A9BE-0E6183A6543F}" destId="{5BDB8863-4706-4ADD-AE0E-DA58E690D89F}" srcOrd="1" destOrd="0" parTransId="{C348E1C3-CF8A-41BC-967C-6B21EA26CB66}" sibTransId="{6FF973AA-B808-4CC2-931F-F66EEB1ADC47}"/>
    <dgm:cxn modelId="{8EA928A9-CCE5-44A8-89F9-CF7409CE1CC3}" type="presOf" srcId="{3E146127-D56C-488A-A9BE-0E6183A6543F}" destId="{502186B5-A499-4D19-99D7-9E0510D3D6DB}" srcOrd="0" destOrd="0" presId="urn:microsoft.com/office/officeart/2018/5/layout/IconCircleLabelList"/>
    <dgm:cxn modelId="{F2011CCF-2918-4D95-ABD4-B4F1322A52DA}" type="presOf" srcId="{6951FB20-A80B-4FB2-8390-795ACE50285F}" destId="{21AD7950-2171-401F-96E4-9B5DEB9B6362}" srcOrd="0" destOrd="0" presId="urn:microsoft.com/office/officeart/2018/5/layout/IconCircleLabelList"/>
    <dgm:cxn modelId="{5B6B5B99-0B4C-4A96-8884-AC2448E548FE}" type="presParOf" srcId="{502186B5-A499-4D19-99D7-9E0510D3D6DB}" destId="{E320EC37-5F29-422B-91EB-4CA0C8976AB9}" srcOrd="0" destOrd="0" presId="urn:microsoft.com/office/officeart/2018/5/layout/IconCircleLabelList"/>
    <dgm:cxn modelId="{F930352D-3539-4926-BFB9-F58E595EB644}" type="presParOf" srcId="{E320EC37-5F29-422B-91EB-4CA0C8976AB9}" destId="{BEEDB959-BB92-4FEF-80F1-E6BAC609F3A9}" srcOrd="0" destOrd="0" presId="urn:microsoft.com/office/officeart/2018/5/layout/IconCircleLabelList"/>
    <dgm:cxn modelId="{0A3625FA-838D-46FD-9FB2-AD2AF0166449}" type="presParOf" srcId="{E320EC37-5F29-422B-91EB-4CA0C8976AB9}" destId="{D618E4FC-58C2-4F5A-907F-109632DA8EFF}" srcOrd="1" destOrd="0" presId="urn:microsoft.com/office/officeart/2018/5/layout/IconCircleLabelList"/>
    <dgm:cxn modelId="{87594078-E52D-4141-B878-15248A407501}" type="presParOf" srcId="{E320EC37-5F29-422B-91EB-4CA0C8976AB9}" destId="{C383067D-5C74-48E7-988B-5FD6234F04D1}" srcOrd="2" destOrd="0" presId="urn:microsoft.com/office/officeart/2018/5/layout/IconCircleLabelList"/>
    <dgm:cxn modelId="{6F4F156F-5902-4645-97CA-D2E0CC03E0A1}" type="presParOf" srcId="{E320EC37-5F29-422B-91EB-4CA0C8976AB9}" destId="{21AD7950-2171-401F-96E4-9B5DEB9B6362}" srcOrd="3" destOrd="0" presId="urn:microsoft.com/office/officeart/2018/5/layout/IconCircleLabelList"/>
    <dgm:cxn modelId="{B3863D3F-CAC0-476E-89FE-FA0E2929E656}" type="presParOf" srcId="{502186B5-A499-4D19-99D7-9E0510D3D6DB}" destId="{3AE08D26-68B8-49DC-82BB-7A8053AD337E}" srcOrd="1" destOrd="0" presId="urn:microsoft.com/office/officeart/2018/5/layout/IconCircleLabelList"/>
    <dgm:cxn modelId="{E293C917-9C98-441C-B5E8-7C9E5900A973}" type="presParOf" srcId="{502186B5-A499-4D19-99D7-9E0510D3D6DB}" destId="{004A728B-97EE-4B20-BA1F-0F6CD5733BE1}" srcOrd="2" destOrd="0" presId="urn:microsoft.com/office/officeart/2018/5/layout/IconCircleLabelList"/>
    <dgm:cxn modelId="{C584A148-5AC6-42CB-B307-A61036D58ED9}" type="presParOf" srcId="{004A728B-97EE-4B20-BA1F-0F6CD5733BE1}" destId="{5584B193-9270-4A31-96F7-D15752207E48}" srcOrd="0" destOrd="0" presId="urn:microsoft.com/office/officeart/2018/5/layout/IconCircleLabelList"/>
    <dgm:cxn modelId="{ECCAD7A7-ACE1-43E3-888A-EE8F6FF04249}" type="presParOf" srcId="{004A728B-97EE-4B20-BA1F-0F6CD5733BE1}" destId="{79D0588E-C7BE-41C4-9D2D-3711014C4EBA}" srcOrd="1" destOrd="0" presId="urn:microsoft.com/office/officeart/2018/5/layout/IconCircleLabelList"/>
    <dgm:cxn modelId="{8A1B6F74-D6ED-4439-8B60-6E62E231B250}" type="presParOf" srcId="{004A728B-97EE-4B20-BA1F-0F6CD5733BE1}" destId="{CB0A6AAF-4516-4EE1-A091-60BB43A17FCD}" srcOrd="2" destOrd="0" presId="urn:microsoft.com/office/officeart/2018/5/layout/IconCircleLabelList"/>
    <dgm:cxn modelId="{5F0739A8-ABBD-4A5C-8BFD-187D90DD0A09}" type="presParOf" srcId="{004A728B-97EE-4B20-BA1F-0F6CD5733BE1}" destId="{400607DE-F9C6-4F1D-994E-49AC4401F64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A6F9E6-E27B-4245-85B8-715D89D0BF35}"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6D313215-133C-405D-9B3A-50FD07DC126B}">
      <dgm:prSet/>
      <dgm:spPr/>
      <dgm:t>
        <a:bodyPr/>
        <a:lstStyle/>
        <a:p>
          <a:r>
            <a:rPr lang="en-US" b="1"/>
            <a:t>Key Business Insights</a:t>
          </a:r>
          <a:endParaRPr lang="en-US"/>
        </a:p>
      </dgm:t>
    </dgm:pt>
    <dgm:pt modelId="{BBCB0703-1945-4CB3-8074-B9FC194706C1}" type="parTrans" cxnId="{B434C269-8F04-4CA4-94AC-57F1512E240F}">
      <dgm:prSet/>
      <dgm:spPr/>
      <dgm:t>
        <a:bodyPr/>
        <a:lstStyle/>
        <a:p>
          <a:endParaRPr lang="en-US"/>
        </a:p>
      </dgm:t>
    </dgm:pt>
    <dgm:pt modelId="{55E6830B-3540-4D16-8045-2B88A6FC6ECD}" type="sibTrans" cxnId="{B434C269-8F04-4CA4-94AC-57F1512E240F}">
      <dgm:prSet/>
      <dgm:spPr/>
      <dgm:t>
        <a:bodyPr/>
        <a:lstStyle/>
        <a:p>
          <a:endParaRPr lang="en-US"/>
        </a:p>
      </dgm:t>
    </dgm:pt>
    <dgm:pt modelId="{29650AB6-22A7-42FC-9CD5-47DF57745198}">
      <dgm:prSet/>
      <dgm:spPr/>
      <dgm:t>
        <a:bodyPr/>
        <a:lstStyle/>
        <a:p>
          <a:r>
            <a:rPr lang="en-US"/>
            <a:t>Total sales reached $2M, generating $286K in profit.</a:t>
          </a:r>
        </a:p>
      </dgm:t>
    </dgm:pt>
    <dgm:pt modelId="{C5451A11-64D9-4D3A-AA96-F9427D66CACF}" type="parTrans" cxnId="{692337D2-7DF3-42D3-BD9F-82549DA8F733}">
      <dgm:prSet/>
      <dgm:spPr/>
      <dgm:t>
        <a:bodyPr/>
        <a:lstStyle/>
        <a:p>
          <a:endParaRPr lang="en-US"/>
        </a:p>
      </dgm:t>
    </dgm:pt>
    <dgm:pt modelId="{FABB990F-0620-450B-8E99-C9BBE0A05CFF}" type="sibTrans" cxnId="{692337D2-7DF3-42D3-BD9F-82549DA8F733}">
      <dgm:prSet/>
      <dgm:spPr/>
      <dgm:t>
        <a:bodyPr/>
        <a:lstStyle/>
        <a:p>
          <a:endParaRPr lang="en-US"/>
        </a:p>
      </dgm:t>
    </dgm:pt>
    <dgm:pt modelId="{FDC07364-7380-4763-8426-50F398579E57}">
      <dgm:prSet/>
      <dgm:spPr/>
      <dgm:t>
        <a:bodyPr/>
        <a:lstStyle/>
        <a:p>
          <a:r>
            <a:rPr lang="en-US"/>
            <a:t>Overall profit margin is 12.47%.</a:t>
          </a:r>
        </a:p>
      </dgm:t>
    </dgm:pt>
    <dgm:pt modelId="{A19127CD-834A-4908-81C8-68BD59EDC4D3}" type="parTrans" cxnId="{B9118F94-BA87-45A8-AABE-DBD096233A06}">
      <dgm:prSet/>
      <dgm:spPr/>
      <dgm:t>
        <a:bodyPr/>
        <a:lstStyle/>
        <a:p>
          <a:endParaRPr lang="en-US"/>
        </a:p>
      </dgm:t>
    </dgm:pt>
    <dgm:pt modelId="{5D34B241-C983-49B2-9884-AE26884BF689}" type="sibTrans" cxnId="{B9118F94-BA87-45A8-AABE-DBD096233A06}">
      <dgm:prSet/>
      <dgm:spPr/>
      <dgm:t>
        <a:bodyPr/>
        <a:lstStyle/>
        <a:p>
          <a:endParaRPr lang="en-US"/>
        </a:p>
      </dgm:t>
    </dgm:pt>
    <dgm:pt modelId="{7903B2B2-87E8-4B9F-B285-17952F69ABB8}">
      <dgm:prSet/>
      <dgm:spPr/>
      <dgm:t>
        <a:bodyPr/>
        <a:lstStyle/>
        <a:p>
          <a:r>
            <a:rPr lang="en-US"/>
            <a:t>The Consumer segment contributes the highest sales and profit.</a:t>
          </a:r>
        </a:p>
      </dgm:t>
    </dgm:pt>
    <dgm:pt modelId="{670D8466-F002-40D5-BB78-CA936E890AC0}" type="parTrans" cxnId="{7ED66650-EF27-4025-B683-BD6D8AF02BC3}">
      <dgm:prSet/>
      <dgm:spPr/>
      <dgm:t>
        <a:bodyPr/>
        <a:lstStyle/>
        <a:p>
          <a:endParaRPr lang="en-US"/>
        </a:p>
      </dgm:t>
    </dgm:pt>
    <dgm:pt modelId="{1072D873-C675-4ABB-912D-0BF01568EC84}" type="sibTrans" cxnId="{7ED66650-EF27-4025-B683-BD6D8AF02BC3}">
      <dgm:prSet/>
      <dgm:spPr/>
      <dgm:t>
        <a:bodyPr/>
        <a:lstStyle/>
        <a:p>
          <a:endParaRPr lang="en-US"/>
        </a:p>
      </dgm:t>
    </dgm:pt>
    <dgm:pt modelId="{9A4BB151-29FA-4524-AC10-9A7D2687CD5E}">
      <dgm:prSet/>
      <dgm:spPr/>
      <dgm:t>
        <a:bodyPr/>
        <a:lstStyle/>
        <a:p>
          <a:r>
            <a:rPr lang="en-US"/>
            <a:t>Technology is the highest-performing category.</a:t>
          </a:r>
        </a:p>
      </dgm:t>
    </dgm:pt>
    <dgm:pt modelId="{AA68AFC4-19FA-43E7-B645-1C6276980D32}" type="parTrans" cxnId="{B0AEB81A-66D8-49B2-AEFA-2480A2C80557}">
      <dgm:prSet/>
      <dgm:spPr/>
      <dgm:t>
        <a:bodyPr/>
        <a:lstStyle/>
        <a:p>
          <a:endParaRPr lang="en-US"/>
        </a:p>
      </dgm:t>
    </dgm:pt>
    <dgm:pt modelId="{04DEA600-A516-4E7D-8A51-DE378E372E25}" type="sibTrans" cxnId="{B0AEB81A-66D8-49B2-AEFA-2480A2C80557}">
      <dgm:prSet/>
      <dgm:spPr/>
      <dgm:t>
        <a:bodyPr/>
        <a:lstStyle/>
        <a:p>
          <a:endParaRPr lang="en-US"/>
        </a:p>
      </dgm:t>
    </dgm:pt>
    <dgm:pt modelId="{491DEBA9-3F0C-4549-8721-7489C65C67C3}">
      <dgm:prSet/>
      <dgm:spPr/>
      <dgm:t>
        <a:bodyPr/>
        <a:lstStyle/>
        <a:p>
          <a:r>
            <a:rPr lang="en-US"/>
            <a:t>California and New York are the top-performing states.</a:t>
          </a:r>
        </a:p>
      </dgm:t>
    </dgm:pt>
    <dgm:pt modelId="{D0049638-715E-410B-8058-FFE842BE9CF9}" type="parTrans" cxnId="{E934B81F-FD28-434B-BED1-2FA9C7A00EDF}">
      <dgm:prSet/>
      <dgm:spPr/>
      <dgm:t>
        <a:bodyPr/>
        <a:lstStyle/>
        <a:p>
          <a:endParaRPr lang="en-US"/>
        </a:p>
      </dgm:t>
    </dgm:pt>
    <dgm:pt modelId="{541E4D38-756E-4162-889C-2F62A0A044B8}" type="sibTrans" cxnId="{E934B81F-FD28-434B-BED1-2FA9C7A00EDF}">
      <dgm:prSet/>
      <dgm:spPr/>
      <dgm:t>
        <a:bodyPr/>
        <a:lstStyle/>
        <a:p>
          <a:endParaRPr lang="en-US"/>
        </a:p>
      </dgm:t>
    </dgm:pt>
    <dgm:pt modelId="{10DC8743-6075-475B-B06C-8EF93B3D8F66}">
      <dgm:prSet/>
      <dgm:spPr/>
      <dgm:t>
        <a:bodyPr/>
        <a:lstStyle/>
        <a:p>
          <a:r>
            <a:rPr lang="en-US"/>
            <a:t>Copiers are the most profitable sub-category.</a:t>
          </a:r>
        </a:p>
      </dgm:t>
    </dgm:pt>
    <dgm:pt modelId="{D6B25C68-1445-4A0F-86ED-78950C723215}" type="parTrans" cxnId="{77810398-EC82-41CD-A2DC-F2D9F0CEE228}">
      <dgm:prSet/>
      <dgm:spPr/>
      <dgm:t>
        <a:bodyPr/>
        <a:lstStyle/>
        <a:p>
          <a:endParaRPr lang="en-US"/>
        </a:p>
      </dgm:t>
    </dgm:pt>
    <dgm:pt modelId="{C08B4658-FC39-4660-AE9E-E34510C2B853}" type="sibTrans" cxnId="{77810398-EC82-41CD-A2DC-F2D9F0CEE228}">
      <dgm:prSet/>
      <dgm:spPr/>
      <dgm:t>
        <a:bodyPr/>
        <a:lstStyle/>
        <a:p>
          <a:endParaRPr lang="en-US"/>
        </a:p>
      </dgm:t>
    </dgm:pt>
    <dgm:pt modelId="{83845283-1D20-4545-84DA-38694D3F5DD8}">
      <dgm:prSet/>
      <dgm:spPr/>
      <dgm:t>
        <a:bodyPr/>
        <a:lstStyle/>
        <a:p>
          <a:r>
            <a:rPr lang="en-US"/>
            <a:t>Higher discounts generally reduce profitability, indicating that discount strategies should be reviewed.</a:t>
          </a:r>
        </a:p>
      </dgm:t>
    </dgm:pt>
    <dgm:pt modelId="{0D79CA66-CD5D-4B71-BA67-4DE8A15B58D2}" type="parTrans" cxnId="{D573677C-973E-4480-896A-58A730E12570}">
      <dgm:prSet/>
      <dgm:spPr/>
      <dgm:t>
        <a:bodyPr/>
        <a:lstStyle/>
        <a:p>
          <a:endParaRPr lang="en-US"/>
        </a:p>
      </dgm:t>
    </dgm:pt>
    <dgm:pt modelId="{207F2F37-F1DF-4F31-A3D1-AFCC6691692D}" type="sibTrans" cxnId="{D573677C-973E-4480-896A-58A730E12570}">
      <dgm:prSet/>
      <dgm:spPr/>
      <dgm:t>
        <a:bodyPr/>
        <a:lstStyle/>
        <a:p>
          <a:endParaRPr lang="en-US"/>
        </a:p>
      </dgm:t>
    </dgm:pt>
    <dgm:pt modelId="{A10468D0-EA76-4556-A6F3-1598D6DE0C50}" type="pres">
      <dgm:prSet presAssocID="{A2A6F9E6-E27B-4245-85B8-715D89D0BF35}" presName="diagram" presStyleCnt="0">
        <dgm:presLayoutVars>
          <dgm:dir/>
          <dgm:resizeHandles val="exact"/>
        </dgm:presLayoutVars>
      </dgm:prSet>
      <dgm:spPr/>
    </dgm:pt>
    <dgm:pt modelId="{6405E16F-B03B-4BFA-902C-E8A71FE9DC6C}" type="pres">
      <dgm:prSet presAssocID="{6D313215-133C-405D-9B3A-50FD07DC126B}" presName="node" presStyleLbl="node1" presStyleIdx="0" presStyleCnt="1">
        <dgm:presLayoutVars>
          <dgm:bulletEnabled val="1"/>
        </dgm:presLayoutVars>
      </dgm:prSet>
      <dgm:spPr/>
    </dgm:pt>
  </dgm:ptLst>
  <dgm:cxnLst>
    <dgm:cxn modelId="{8E25C512-5D0B-4255-80AD-7C9DD4AB869B}" type="presOf" srcId="{29650AB6-22A7-42FC-9CD5-47DF57745198}" destId="{6405E16F-B03B-4BFA-902C-E8A71FE9DC6C}" srcOrd="0" destOrd="1" presId="urn:microsoft.com/office/officeart/2005/8/layout/default"/>
    <dgm:cxn modelId="{B0AEB81A-66D8-49B2-AEFA-2480A2C80557}" srcId="{6D313215-133C-405D-9B3A-50FD07DC126B}" destId="{9A4BB151-29FA-4524-AC10-9A7D2687CD5E}" srcOrd="3" destOrd="0" parTransId="{AA68AFC4-19FA-43E7-B645-1C6276980D32}" sibTransId="{04DEA600-A516-4E7D-8A51-DE378E372E25}"/>
    <dgm:cxn modelId="{E934B81F-FD28-434B-BED1-2FA9C7A00EDF}" srcId="{6D313215-133C-405D-9B3A-50FD07DC126B}" destId="{491DEBA9-3F0C-4549-8721-7489C65C67C3}" srcOrd="4" destOrd="0" parTransId="{D0049638-715E-410B-8058-FFE842BE9CF9}" sibTransId="{541E4D38-756E-4162-889C-2F62A0A044B8}"/>
    <dgm:cxn modelId="{F9093543-56C1-48E1-9726-082D6BCE3358}" type="presOf" srcId="{491DEBA9-3F0C-4549-8721-7489C65C67C3}" destId="{6405E16F-B03B-4BFA-902C-E8A71FE9DC6C}" srcOrd="0" destOrd="5" presId="urn:microsoft.com/office/officeart/2005/8/layout/default"/>
    <dgm:cxn modelId="{A48DA168-CC2F-497C-B5F7-4B98AA5E4517}" type="presOf" srcId="{FDC07364-7380-4763-8426-50F398579E57}" destId="{6405E16F-B03B-4BFA-902C-E8A71FE9DC6C}" srcOrd="0" destOrd="2" presId="urn:microsoft.com/office/officeart/2005/8/layout/default"/>
    <dgm:cxn modelId="{B434C269-8F04-4CA4-94AC-57F1512E240F}" srcId="{A2A6F9E6-E27B-4245-85B8-715D89D0BF35}" destId="{6D313215-133C-405D-9B3A-50FD07DC126B}" srcOrd="0" destOrd="0" parTransId="{BBCB0703-1945-4CB3-8074-B9FC194706C1}" sibTransId="{55E6830B-3540-4D16-8045-2B88A6FC6ECD}"/>
    <dgm:cxn modelId="{EFF7424D-BF64-41C2-9590-7D0CA19B03B9}" type="presOf" srcId="{10DC8743-6075-475B-B06C-8EF93B3D8F66}" destId="{6405E16F-B03B-4BFA-902C-E8A71FE9DC6C}" srcOrd="0" destOrd="6" presId="urn:microsoft.com/office/officeart/2005/8/layout/default"/>
    <dgm:cxn modelId="{7ED66650-EF27-4025-B683-BD6D8AF02BC3}" srcId="{6D313215-133C-405D-9B3A-50FD07DC126B}" destId="{7903B2B2-87E8-4B9F-B285-17952F69ABB8}" srcOrd="2" destOrd="0" parTransId="{670D8466-F002-40D5-BB78-CA936E890AC0}" sibTransId="{1072D873-C675-4ABB-912D-0BF01568EC84}"/>
    <dgm:cxn modelId="{FE50B254-DCD0-4F01-B1B0-DDBBCCEA3F58}" type="presOf" srcId="{A2A6F9E6-E27B-4245-85B8-715D89D0BF35}" destId="{A10468D0-EA76-4556-A6F3-1598D6DE0C50}" srcOrd="0" destOrd="0" presId="urn:microsoft.com/office/officeart/2005/8/layout/default"/>
    <dgm:cxn modelId="{D573677C-973E-4480-896A-58A730E12570}" srcId="{6D313215-133C-405D-9B3A-50FD07DC126B}" destId="{83845283-1D20-4545-84DA-38694D3F5DD8}" srcOrd="6" destOrd="0" parTransId="{0D79CA66-CD5D-4B71-BA67-4DE8A15B58D2}" sibTransId="{207F2F37-F1DF-4F31-A3D1-AFCC6691692D}"/>
    <dgm:cxn modelId="{BFCA9E93-0E58-480A-98F5-9B6CA3072AE2}" type="presOf" srcId="{9A4BB151-29FA-4524-AC10-9A7D2687CD5E}" destId="{6405E16F-B03B-4BFA-902C-E8A71FE9DC6C}" srcOrd="0" destOrd="4" presId="urn:microsoft.com/office/officeart/2005/8/layout/default"/>
    <dgm:cxn modelId="{B9118F94-BA87-45A8-AABE-DBD096233A06}" srcId="{6D313215-133C-405D-9B3A-50FD07DC126B}" destId="{FDC07364-7380-4763-8426-50F398579E57}" srcOrd="1" destOrd="0" parTransId="{A19127CD-834A-4908-81C8-68BD59EDC4D3}" sibTransId="{5D34B241-C983-49B2-9884-AE26884BF689}"/>
    <dgm:cxn modelId="{77810398-EC82-41CD-A2DC-F2D9F0CEE228}" srcId="{6D313215-133C-405D-9B3A-50FD07DC126B}" destId="{10DC8743-6075-475B-B06C-8EF93B3D8F66}" srcOrd="5" destOrd="0" parTransId="{D6B25C68-1445-4A0F-86ED-78950C723215}" sibTransId="{C08B4658-FC39-4660-AE9E-E34510C2B853}"/>
    <dgm:cxn modelId="{4E02D5A1-933A-4DC1-86B1-EF909AA120C6}" type="presOf" srcId="{6D313215-133C-405D-9B3A-50FD07DC126B}" destId="{6405E16F-B03B-4BFA-902C-E8A71FE9DC6C}" srcOrd="0" destOrd="0" presId="urn:microsoft.com/office/officeart/2005/8/layout/default"/>
    <dgm:cxn modelId="{A8C765A9-62D4-4DD0-9B71-33F9DC43CC52}" type="presOf" srcId="{7903B2B2-87E8-4B9F-B285-17952F69ABB8}" destId="{6405E16F-B03B-4BFA-902C-E8A71FE9DC6C}" srcOrd="0" destOrd="3" presId="urn:microsoft.com/office/officeart/2005/8/layout/default"/>
    <dgm:cxn modelId="{03E42AD0-5CAB-4E90-A3D2-5A85CB129A2A}" type="presOf" srcId="{83845283-1D20-4545-84DA-38694D3F5DD8}" destId="{6405E16F-B03B-4BFA-902C-E8A71FE9DC6C}" srcOrd="0" destOrd="7" presId="urn:microsoft.com/office/officeart/2005/8/layout/default"/>
    <dgm:cxn modelId="{692337D2-7DF3-42D3-BD9F-82549DA8F733}" srcId="{6D313215-133C-405D-9B3A-50FD07DC126B}" destId="{29650AB6-22A7-42FC-9CD5-47DF57745198}" srcOrd="0" destOrd="0" parTransId="{C5451A11-64D9-4D3A-AA96-F9427D66CACF}" sibTransId="{FABB990F-0620-450B-8E99-C9BBE0A05CFF}"/>
    <dgm:cxn modelId="{26322048-DC68-464A-B26F-B34BE86E2A22}" type="presParOf" srcId="{A10468D0-EA76-4556-A6F3-1598D6DE0C50}" destId="{6405E16F-B03B-4BFA-902C-E8A71FE9DC6C}"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6EA92B-5A6B-46F4-A120-800591669199}"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F9EAAE8C-4E37-43D3-946D-D0667D57FA0D}">
      <dgm:prSet/>
      <dgm:spPr/>
      <dgm:t>
        <a:bodyPr/>
        <a:lstStyle/>
        <a:p>
          <a:r>
            <a:rPr lang="en-US" b="1"/>
            <a:t>Business Recommendations</a:t>
          </a:r>
          <a:endParaRPr lang="en-US"/>
        </a:p>
      </dgm:t>
    </dgm:pt>
    <dgm:pt modelId="{4600A4D5-38DD-4809-8BBE-EF712E2635D4}" type="parTrans" cxnId="{D464C7E5-781F-413E-BFF1-4000FC0C6FD4}">
      <dgm:prSet/>
      <dgm:spPr/>
      <dgm:t>
        <a:bodyPr/>
        <a:lstStyle/>
        <a:p>
          <a:endParaRPr lang="en-US"/>
        </a:p>
      </dgm:t>
    </dgm:pt>
    <dgm:pt modelId="{63E954D7-CEA9-4B17-BC51-28754C9B3E83}" type="sibTrans" cxnId="{D464C7E5-781F-413E-BFF1-4000FC0C6FD4}">
      <dgm:prSet/>
      <dgm:spPr/>
      <dgm:t>
        <a:bodyPr/>
        <a:lstStyle/>
        <a:p>
          <a:endParaRPr lang="en-US"/>
        </a:p>
      </dgm:t>
    </dgm:pt>
    <dgm:pt modelId="{88D77ADC-A1C4-4830-AE1A-7CEFA153EBCE}">
      <dgm:prSet/>
      <dgm:spPr/>
      <dgm:t>
        <a:bodyPr/>
        <a:lstStyle/>
        <a:p>
          <a:r>
            <a:rPr lang="en-US"/>
            <a:t>Continue investing in high-performing product categories such as Technology.</a:t>
          </a:r>
        </a:p>
      </dgm:t>
    </dgm:pt>
    <dgm:pt modelId="{E1FE21EA-1109-4F67-9791-931BC95CCBE8}" type="parTrans" cxnId="{8B126321-2D46-4DA0-BADA-1D93880B73FF}">
      <dgm:prSet/>
      <dgm:spPr/>
      <dgm:t>
        <a:bodyPr/>
        <a:lstStyle/>
        <a:p>
          <a:endParaRPr lang="en-US"/>
        </a:p>
      </dgm:t>
    </dgm:pt>
    <dgm:pt modelId="{34340959-A0E6-4F6C-90DA-74CBF413A2E2}" type="sibTrans" cxnId="{8B126321-2D46-4DA0-BADA-1D93880B73FF}">
      <dgm:prSet/>
      <dgm:spPr/>
      <dgm:t>
        <a:bodyPr/>
        <a:lstStyle/>
        <a:p>
          <a:endParaRPr lang="en-US"/>
        </a:p>
      </dgm:t>
    </dgm:pt>
    <dgm:pt modelId="{5E0CA6D1-B641-4812-BB78-BBD5401D43F7}">
      <dgm:prSet/>
      <dgm:spPr/>
      <dgm:t>
        <a:bodyPr/>
        <a:lstStyle/>
        <a:p>
          <a:r>
            <a:rPr lang="en-US"/>
            <a:t>Optimize discount strategies to improve profitability.</a:t>
          </a:r>
        </a:p>
      </dgm:t>
    </dgm:pt>
    <dgm:pt modelId="{41AA1A9A-0B9C-4EF9-B7C7-E0E9CC0F7483}" type="parTrans" cxnId="{18CF8924-964E-4123-AAD9-A0B1E08642B9}">
      <dgm:prSet/>
      <dgm:spPr/>
      <dgm:t>
        <a:bodyPr/>
        <a:lstStyle/>
        <a:p>
          <a:endParaRPr lang="en-US"/>
        </a:p>
      </dgm:t>
    </dgm:pt>
    <dgm:pt modelId="{FDDC1F73-AAE0-4971-9CA3-C9242A209B0F}" type="sibTrans" cxnId="{18CF8924-964E-4123-AAD9-A0B1E08642B9}">
      <dgm:prSet/>
      <dgm:spPr/>
      <dgm:t>
        <a:bodyPr/>
        <a:lstStyle/>
        <a:p>
          <a:endParaRPr lang="en-US"/>
        </a:p>
      </dgm:t>
    </dgm:pt>
    <dgm:pt modelId="{43B5A8ED-5DA9-4BE0-A47B-4C8CD7158295}">
      <dgm:prSet/>
      <dgm:spPr/>
      <dgm:t>
        <a:bodyPr/>
        <a:lstStyle/>
        <a:p>
          <a:r>
            <a:rPr lang="en-US"/>
            <a:t>Focus marketing efforts on top-performing states while identifying growth opportunities in lower-performing regions.</a:t>
          </a:r>
        </a:p>
      </dgm:t>
    </dgm:pt>
    <dgm:pt modelId="{E41E0970-3F39-4883-AF1D-ADB7E65BFBA2}" type="parTrans" cxnId="{21477A74-E045-4968-8396-6E602E41234B}">
      <dgm:prSet/>
      <dgm:spPr/>
      <dgm:t>
        <a:bodyPr/>
        <a:lstStyle/>
        <a:p>
          <a:endParaRPr lang="en-US"/>
        </a:p>
      </dgm:t>
    </dgm:pt>
    <dgm:pt modelId="{9FDB8851-2C8F-4BDA-B8E9-3D0FBB3E742B}" type="sibTrans" cxnId="{21477A74-E045-4968-8396-6E602E41234B}">
      <dgm:prSet/>
      <dgm:spPr/>
      <dgm:t>
        <a:bodyPr/>
        <a:lstStyle/>
        <a:p>
          <a:endParaRPr lang="en-US"/>
        </a:p>
      </dgm:t>
    </dgm:pt>
    <dgm:pt modelId="{0D9F3917-7923-42CF-8030-40191CDABF36}">
      <dgm:prSet/>
      <dgm:spPr/>
      <dgm:t>
        <a:bodyPr/>
        <a:lstStyle/>
        <a:p>
          <a:r>
            <a:rPr lang="en-US"/>
            <a:t>Monitor low-profit product categories and review pricing or promotional strategies.</a:t>
          </a:r>
        </a:p>
      </dgm:t>
    </dgm:pt>
    <dgm:pt modelId="{8EF74C2C-4185-4B90-915D-2D09119B634B}" type="parTrans" cxnId="{444525C3-EDA6-466E-A937-F396331DAC90}">
      <dgm:prSet/>
      <dgm:spPr/>
      <dgm:t>
        <a:bodyPr/>
        <a:lstStyle/>
        <a:p>
          <a:endParaRPr lang="en-US"/>
        </a:p>
      </dgm:t>
    </dgm:pt>
    <dgm:pt modelId="{5C3A1F67-D4DC-44AF-AC56-4BC78D6F9669}" type="sibTrans" cxnId="{444525C3-EDA6-466E-A937-F396331DAC90}">
      <dgm:prSet/>
      <dgm:spPr/>
      <dgm:t>
        <a:bodyPr/>
        <a:lstStyle/>
        <a:p>
          <a:endParaRPr lang="en-US"/>
        </a:p>
      </dgm:t>
    </dgm:pt>
    <dgm:pt modelId="{B66593F9-2EB9-460E-A38D-F96B5708AA46}" type="pres">
      <dgm:prSet presAssocID="{4A6EA92B-5A6B-46F4-A120-800591669199}" presName="linear" presStyleCnt="0">
        <dgm:presLayoutVars>
          <dgm:animLvl val="lvl"/>
          <dgm:resizeHandles val="exact"/>
        </dgm:presLayoutVars>
      </dgm:prSet>
      <dgm:spPr/>
    </dgm:pt>
    <dgm:pt modelId="{0CDEAEF1-4AF3-4224-A08E-15E34680AF5B}" type="pres">
      <dgm:prSet presAssocID="{F9EAAE8C-4E37-43D3-946D-D0667D57FA0D}" presName="parentText" presStyleLbl="node1" presStyleIdx="0" presStyleCnt="1">
        <dgm:presLayoutVars>
          <dgm:chMax val="0"/>
          <dgm:bulletEnabled val="1"/>
        </dgm:presLayoutVars>
      </dgm:prSet>
      <dgm:spPr/>
    </dgm:pt>
    <dgm:pt modelId="{98F04C76-C9D4-4AAF-A704-1799DC389C0F}" type="pres">
      <dgm:prSet presAssocID="{F9EAAE8C-4E37-43D3-946D-D0667D57FA0D}" presName="childText" presStyleLbl="revTx" presStyleIdx="0" presStyleCnt="1">
        <dgm:presLayoutVars>
          <dgm:bulletEnabled val="1"/>
        </dgm:presLayoutVars>
      </dgm:prSet>
      <dgm:spPr/>
    </dgm:pt>
  </dgm:ptLst>
  <dgm:cxnLst>
    <dgm:cxn modelId="{8B126321-2D46-4DA0-BADA-1D93880B73FF}" srcId="{F9EAAE8C-4E37-43D3-946D-D0667D57FA0D}" destId="{88D77ADC-A1C4-4830-AE1A-7CEFA153EBCE}" srcOrd="0" destOrd="0" parTransId="{E1FE21EA-1109-4F67-9791-931BC95CCBE8}" sibTransId="{34340959-A0E6-4F6C-90DA-74CBF413A2E2}"/>
    <dgm:cxn modelId="{18CF8924-964E-4123-AAD9-A0B1E08642B9}" srcId="{F9EAAE8C-4E37-43D3-946D-D0667D57FA0D}" destId="{5E0CA6D1-B641-4812-BB78-BBD5401D43F7}" srcOrd="1" destOrd="0" parTransId="{41AA1A9A-0B9C-4EF9-B7C7-E0E9CC0F7483}" sibTransId="{FDDC1F73-AAE0-4971-9CA3-C9242A209B0F}"/>
    <dgm:cxn modelId="{0725E962-E037-4330-A243-E8C62FAA9565}" type="presOf" srcId="{F9EAAE8C-4E37-43D3-946D-D0667D57FA0D}" destId="{0CDEAEF1-4AF3-4224-A08E-15E34680AF5B}" srcOrd="0" destOrd="0" presId="urn:microsoft.com/office/officeart/2005/8/layout/vList2"/>
    <dgm:cxn modelId="{241E1043-E192-4055-9A7B-AAECA1D6D6A8}" type="presOf" srcId="{0D9F3917-7923-42CF-8030-40191CDABF36}" destId="{98F04C76-C9D4-4AAF-A704-1799DC389C0F}" srcOrd="0" destOrd="3" presId="urn:microsoft.com/office/officeart/2005/8/layout/vList2"/>
    <dgm:cxn modelId="{FE5B1744-AB2D-4A13-9B3E-97BA6FE7BC01}" type="presOf" srcId="{43B5A8ED-5DA9-4BE0-A47B-4C8CD7158295}" destId="{98F04C76-C9D4-4AAF-A704-1799DC389C0F}" srcOrd="0" destOrd="2" presId="urn:microsoft.com/office/officeart/2005/8/layout/vList2"/>
    <dgm:cxn modelId="{14D18245-2555-4A07-BC53-6B5106EA889E}" type="presOf" srcId="{88D77ADC-A1C4-4830-AE1A-7CEFA153EBCE}" destId="{98F04C76-C9D4-4AAF-A704-1799DC389C0F}" srcOrd="0" destOrd="0" presId="urn:microsoft.com/office/officeart/2005/8/layout/vList2"/>
    <dgm:cxn modelId="{21477A74-E045-4968-8396-6E602E41234B}" srcId="{F9EAAE8C-4E37-43D3-946D-D0667D57FA0D}" destId="{43B5A8ED-5DA9-4BE0-A47B-4C8CD7158295}" srcOrd="2" destOrd="0" parTransId="{E41E0970-3F39-4883-AF1D-ADB7E65BFBA2}" sibTransId="{9FDB8851-2C8F-4BDA-B8E9-3D0FBB3E742B}"/>
    <dgm:cxn modelId="{B95433B4-F0BF-41FA-A1EB-AD6DD7F55287}" type="presOf" srcId="{4A6EA92B-5A6B-46F4-A120-800591669199}" destId="{B66593F9-2EB9-460E-A38D-F96B5708AA46}" srcOrd="0" destOrd="0" presId="urn:microsoft.com/office/officeart/2005/8/layout/vList2"/>
    <dgm:cxn modelId="{444525C3-EDA6-466E-A937-F396331DAC90}" srcId="{F9EAAE8C-4E37-43D3-946D-D0667D57FA0D}" destId="{0D9F3917-7923-42CF-8030-40191CDABF36}" srcOrd="3" destOrd="0" parTransId="{8EF74C2C-4185-4B90-915D-2D09119B634B}" sibTransId="{5C3A1F67-D4DC-44AF-AC56-4BC78D6F9669}"/>
    <dgm:cxn modelId="{58AF57D3-E813-466C-85A3-5036DD6C48CA}" type="presOf" srcId="{5E0CA6D1-B641-4812-BB78-BBD5401D43F7}" destId="{98F04C76-C9D4-4AAF-A704-1799DC389C0F}" srcOrd="0" destOrd="1" presId="urn:microsoft.com/office/officeart/2005/8/layout/vList2"/>
    <dgm:cxn modelId="{D464C7E5-781F-413E-BFF1-4000FC0C6FD4}" srcId="{4A6EA92B-5A6B-46F4-A120-800591669199}" destId="{F9EAAE8C-4E37-43D3-946D-D0667D57FA0D}" srcOrd="0" destOrd="0" parTransId="{4600A4D5-38DD-4809-8BBE-EF712E2635D4}" sibTransId="{63E954D7-CEA9-4B17-BC51-28754C9B3E83}"/>
    <dgm:cxn modelId="{8130E682-A85E-44E1-855F-7646A4BFFBB2}" type="presParOf" srcId="{B66593F9-2EB9-460E-A38D-F96B5708AA46}" destId="{0CDEAEF1-4AF3-4224-A08E-15E34680AF5B}" srcOrd="0" destOrd="0" presId="urn:microsoft.com/office/officeart/2005/8/layout/vList2"/>
    <dgm:cxn modelId="{84889D65-5C0D-4762-B541-4F9BB4ABAD34}" type="presParOf" srcId="{B66593F9-2EB9-460E-A38D-F96B5708AA46}" destId="{98F04C76-C9D4-4AAF-A704-1799DC389C0F}"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EDB959-BB92-4FEF-80F1-E6BAC609F3A9}">
      <dsp:nvSpPr>
        <dsp:cNvPr id="0" name=""/>
        <dsp:cNvSpPr/>
      </dsp:nvSpPr>
      <dsp:spPr>
        <a:xfrm>
          <a:off x="2044800" y="375668"/>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18E4FC-58C2-4F5A-907F-109632DA8EFF}">
      <dsp:nvSpPr>
        <dsp:cNvPr id="0" name=""/>
        <dsp:cNvSpPr/>
      </dsp:nvSpPr>
      <dsp:spPr>
        <a:xfrm>
          <a:off x="2512800" y="843669"/>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AD7950-2171-401F-96E4-9B5DEB9B6362}">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b="1" kern="1200"/>
            <a:t>Dataset</a:t>
          </a:r>
          <a:endParaRPr lang="en-US" sz="2500" kern="1200"/>
        </a:p>
      </dsp:txBody>
      <dsp:txXfrm>
        <a:off x="1342800" y="3255669"/>
        <a:ext cx="3600000" cy="720000"/>
      </dsp:txXfrm>
    </dsp:sp>
    <dsp:sp modelId="{5584B193-9270-4A31-96F7-D15752207E48}">
      <dsp:nvSpPr>
        <dsp:cNvPr id="0" name=""/>
        <dsp:cNvSpPr/>
      </dsp:nvSpPr>
      <dsp:spPr>
        <a:xfrm>
          <a:off x="6274800" y="375668"/>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D0588E-C7BE-41C4-9D2D-3711014C4EBA}">
      <dsp:nvSpPr>
        <dsp:cNvPr id="0" name=""/>
        <dsp:cNvSpPr/>
      </dsp:nvSpPr>
      <dsp:spPr>
        <a:xfrm>
          <a:off x="6742800" y="843669"/>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0607DE-F9C6-4F1D-994E-49AC4401F64A}">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Superstore Sales Dataset</a:t>
          </a:r>
        </a:p>
      </dsp:txBody>
      <dsp:txXfrm>
        <a:off x="5572800" y="3255669"/>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5E16F-B03B-4BFA-902C-E8A71FE9DC6C}">
      <dsp:nvSpPr>
        <dsp:cNvPr id="0" name=""/>
        <dsp:cNvSpPr/>
      </dsp:nvSpPr>
      <dsp:spPr>
        <a:xfrm>
          <a:off x="1632793" y="665"/>
          <a:ext cx="7250013" cy="435000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Key Business Insights</a:t>
          </a:r>
          <a:endParaRPr lang="en-US" sz="2800" kern="1200"/>
        </a:p>
        <a:p>
          <a:pPr marL="228600" lvl="1" indent="-228600" algn="l" defTabSz="977900">
            <a:lnSpc>
              <a:spcPct val="90000"/>
            </a:lnSpc>
            <a:spcBef>
              <a:spcPct val="0"/>
            </a:spcBef>
            <a:spcAft>
              <a:spcPct val="15000"/>
            </a:spcAft>
            <a:buChar char="•"/>
          </a:pPr>
          <a:r>
            <a:rPr lang="en-US" sz="2200" kern="1200"/>
            <a:t>Total sales reached $2M, generating $286K in profit.</a:t>
          </a:r>
        </a:p>
        <a:p>
          <a:pPr marL="228600" lvl="1" indent="-228600" algn="l" defTabSz="977900">
            <a:lnSpc>
              <a:spcPct val="90000"/>
            </a:lnSpc>
            <a:spcBef>
              <a:spcPct val="0"/>
            </a:spcBef>
            <a:spcAft>
              <a:spcPct val="15000"/>
            </a:spcAft>
            <a:buChar char="•"/>
          </a:pPr>
          <a:r>
            <a:rPr lang="en-US" sz="2200" kern="1200"/>
            <a:t>Overall profit margin is 12.47%.</a:t>
          </a:r>
        </a:p>
        <a:p>
          <a:pPr marL="228600" lvl="1" indent="-228600" algn="l" defTabSz="977900">
            <a:lnSpc>
              <a:spcPct val="90000"/>
            </a:lnSpc>
            <a:spcBef>
              <a:spcPct val="0"/>
            </a:spcBef>
            <a:spcAft>
              <a:spcPct val="15000"/>
            </a:spcAft>
            <a:buChar char="•"/>
          </a:pPr>
          <a:r>
            <a:rPr lang="en-US" sz="2200" kern="1200"/>
            <a:t>The Consumer segment contributes the highest sales and profit.</a:t>
          </a:r>
        </a:p>
        <a:p>
          <a:pPr marL="228600" lvl="1" indent="-228600" algn="l" defTabSz="977900">
            <a:lnSpc>
              <a:spcPct val="90000"/>
            </a:lnSpc>
            <a:spcBef>
              <a:spcPct val="0"/>
            </a:spcBef>
            <a:spcAft>
              <a:spcPct val="15000"/>
            </a:spcAft>
            <a:buChar char="•"/>
          </a:pPr>
          <a:r>
            <a:rPr lang="en-US" sz="2200" kern="1200"/>
            <a:t>Technology is the highest-performing category.</a:t>
          </a:r>
        </a:p>
        <a:p>
          <a:pPr marL="228600" lvl="1" indent="-228600" algn="l" defTabSz="977900">
            <a:lnSpc>
              <a:spcPct val="90000"/>
            </a:lnSpc>
            <a:spcBef>
              <a:spcPct val="0"/>
            </a:spcBef>
            <a:spcAft>
              <a:spcPct val="15000"/>
            </a:spcAft>
            <a:buChar char="•"/>
          </a:pPr>
          <a:r>
            <a:rPr lang="en-US" sz="2200" kern="1200"/>
            <a:t>California and New York are the top-performing states.</a:t>
          </a:r>
        </a:p>
        <a:p>
          <a:pPr marL="228600" lvl="1" indent="-228600" algn="l" defTabSz="977900">
            <a:lnSpc>
              <a:spcPct val="90000"/>
            </a:lnSpc>
            <a:spcBef>
              <a:spcPct val="0"/>
            </a:spcBef>
            <a:spcAft>
              <a:spcPct val="15000"/>
            </a:spcAft>
            <a:buChar char="•"/>
          </a:pPr>
          <a:r>
            <a:rPr lang="en-US" sz="2200" kern="1200"/>
            <a:t>Copiers are the most profitable sub-category.</a:t>
          </a:r>
        </a:p>
        <a:p>
          <a:pPr marL="228600" lvl="1" indent="-228600" algn="l" defTabSz="977900">
            <a:lnSpc>
              <a:spcPct val="90000"/>
            </a:lnSpc>
            <a:spcBef>
              <a:spcPct val="0"/>
            </a:spcBef>
            <a:spcAft>
              <a:spcPct val="15000"/>
            </a:spcAft>
            <a:buChar char="•"/>
          </a:pPr>
          <a:r>
            <a:rPr lang="en-US" sz="2200" kern="1200"/>
            <a:t>Higher discounts generally reduce profitability, indicating that discount strategies should be reviewed.</a:t>
          </a:r>
        </a:p>
      </dsp:txBody>
      <dsp:txXfrm>
        <a:off x="1632793" y="665"/>
        <a:ext cx="7250013" cy="4350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EAEF1-4AF3-4224-A08E-15E34680AF5B}">
      <dsp:nvSpPr>
        <dsp:cNvPr id="0" name=""/>
        <dsp:cNvSpPr/>
      </dsp:nvSpPr>
      <dsp:spPr>
        <a:xfrm>
          <a:off x="0" y="112733"/>
          <a:ext cx="10515600" cy="90909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a:t>Business Recommendations</a:t>
          </a:r>
          <a:endParaRPr lang="en-US" sz="3700" kern="1200"/>
        </a:p>
      </dsp:txBody>
      <dsp:txXfrm>
        <a:off x="44378" y="157111"/>
        <a:ext cx="10426844" cy="820334"/>
      </dsp:txXfrm>
    </dsp:sp>
    <dsp:sp modelId="{98F04C76-C9D4-4AAF-A704-1799DC389C0F}">
      <dsp:nvSpPr>
        <dsp:cNvPr id="0" name=""/>
        <dsp:cNvSpPr/>
      </dsp:nvSpPr>
      <dsp:spPr>
        <a:xfrm>
          <a:off x="0" y="1021824"/>
          <a:ext cx="10515600" cy="321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kern="1200"/>
            <a:t>Continue investing in high-performing product categories such as Technology.</a:t>
          </a:r>
        </a:p>
        <a:p>
          <a:pPr marL="285750" lvl="1" indent="-285750" algn="l" defTabSz="1289050">
            <a:lnSpc>
              <a:spcPct val="90000"/>
            </a:lnSpc>
            <a:spcBef>
              <a:spcPct val="0"/>
            </a:spcBef>
            <a:spcAft>
              <a:spcPct val="20000"/>
            </a:spcAft>
            <a:buChar char="•"/>
          </a:pPr>
          <a:r>
            <a:rPr lang="en-US" sz="2900" kern="1200"/>
            <a:t>Optimize discount strategies to improve profitability.</a:t>
          </a:r>
        </a:p>
        <a:p>
          <a:pPr marL="285750" lvl="1" indent="-285750" algn="l" defTabSz="1289050">
            <a:lnSpc>
              <a:spcPct val="90000"/>
            </a:lnSpc>
            <a:spcBef>
              <a:spcPct val="0"/>
            </a:spcBef>
            <a:spcAft>
              <a:spcPct val="20000"/>
            </a:spcAft>
            <a:buChar char="•"/>
          </a:pPr>
          <a:r>
            <a:rPr lang="en-US" sz="2900" kern="1200"/>
            <a:t>Focus marketing efforts on top-performing states while identifying growth opportunities in lower-performing regions.</a:t>
          </a:r>
        </a:p>
        <a:p>
          <a:pPr marL="285750" lvl="1" indent="-285750" algn="l" defTabSz="1289050">
            <a:lnSpc>
              <a:spcPct val="90000"/>
            </a:lnSpc>
            <a:spcBef>
              <a:spcPct val="0"/>
            </a:spcBef>
            <a:spcAft>
              <a:spcPct val="20000"/>
            </a:spcAft>
            <a:buChar char="•"/>
          </a:pPr>
          <a:r>
            <a:rPr lang="en-US" sz="2900" kern="1200"/>
            <a:t>Monitor low-profit product categories and review pricing or promotional strategies.</a:t>
          </a:r>
        </a:p>
      </dsp:txBody>
      <dsp:txXfrm>
        <a:off x="0" y="1021824"/>
        <a:ext cx="10515600" cy="321678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F01FC-A6FC-92B5-40B8-8483835A75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8ADCDC-F234-EF1E-01E6-364286D49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32FD22-8D48-82B3-1180-5DAE38B0C262}"/>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98246C6B-6D51-DF21-5BEA-7C097E0C3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698FD-E702-38FD-36F1-3B849EA16168}"/>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2239907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0FA6-BA45-7BDB-4F1F-6C4F1074A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8ADC85-6F89-496E-7C89-F27B60BBF9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4CEEB-EE23-3163-3D89-DC1FEA9D7C81}"/>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9E0C8BDC-C2CC-2F35-6B87-F15D799C5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C22876-3969-BAF9-93B2-0C6B7A367352}"/>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173536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63D49-ADBC-3F39-B01E-54284B23C6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1D150F-121C-40C8-87E4-0654CE3271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9F9BA6-9C6C-352A-BFEA-BBE79BDE8147}"/>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7DEA685B-A6D9-553F-18C3-DBF304C0C6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60366-A5C4-5686-0855-00979D8A75D3}"/>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1507459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B4FE-11E2-53AF-5201-2A848FBC6C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D523-8EDE-F18A-7C96-9FC16CB40E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373ACE-9199-E9AC-E3C8-5CCD070C4D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35426A-F43D-5FEC-8B6F-692DDEF17B6B}"/>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6" name="Footer Placeholder 5">
            <a:extLst>
              <a:ext uri="{FF2B5EF4-FFF2-40B4-BE49-F238E27FC236}">
                <a16:creationId xmlns:a16="http://schemas.microsoft.com/office/drawing/2014/main" id="{52249787-59F7-918B-E18B-0DDBF1E89A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9C0DC-3F2B-6B40-6196-7C9F1A3E7AAA}"/>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2987292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BA4F-33EC-1275-F894-578988B90C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82D8B4-BF91-4789-7816-F0142FE3AC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ED8399-E217-E127-13ED-7120E49ED2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EF847C-0C0C-5537-A0F2-88C518DD55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589789-10B1-EA21-2D84-E546F4BB96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8A89-CA82-B5A0-B290-0D0ED1E292D1}"/>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8" name="Footer Placeholder 7">
            <a:extLst>
              <a:ext uri="{FF2B5EF4-FFF2-40B4-BE49-F238E27FC236}">
                <a16:creationId xmlns:a16="http://schemas.microsoft.com/office/drawing/2014/main" id="{93E1D0BF-C2DD-A607-9C58-AABFA19D9F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BEFF9A-C922-0BF5-8BB6-BB857A1268D5}"/>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1656614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339A6-4C54-FB7A-93A9-978B9A57D4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FF1B54-725A-FFE5-45A9-3B3888DF475C}"/>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4" name="Footer Placeholder 3">
            <a:extLst>
              <a:ext uri="{FF2B5EF4-FFF2-40B4-BE49-F238E27FC236}">
                <a16:creationId xmlns:a16="http://schemas.microsoft.com/office/drawing/2014/main" id="{616678A0-E053-28F0-4E74-3A6F368FE4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006DAA-D33E-E266-8B35-C5C4E8CEFA5F}"/>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3773428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320305-0B02-9741-A438-26252DDC2337}"/>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3" name="Footer Placeholder 2">
            <a:extLst>
              <a:ext uri="{FF2B5EF4-FFF2-40B4-BE49-F238E27FC236}">
                <a16:creationId xmlns:a16="http://schemas.microsoft.com/office/drawing/2014/main" id="{3EFF5FF0-A000-EC73-AC12-5894F8D361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BD96DD-D686-8A70-D038-6D7DFE148768}"/>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963311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6074-E520-7723-27FB-F3AEDB44DC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56FDFD-91F4-9132-11FA-27388ED12E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29C63E-BBD9-8E2C-C17C-34FB66EE8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B1A75-CFAB-7684-E61E-1C7DE1112DD1}"/>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6" name="Footer Placeholder 5">
            <a:extLst>
              <a:ext uri="{FF2B5EF4-FFF2-40B4-BE49-F238E27FC236}">
                <a16:creationId xmlns:a16="http://schemas.microsoft.com/office/drawing/2014/main" id="{38AEF42C-466B-DAEB-49E7-B490BB1C8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F8F56-FFE3-25C9-1E29-82926F465048}"/>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888579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96285-55F7-2B5C-D725-B8E65FD6E4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16B0E9-FED2-E076-0483-E7F7327B29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4714C1-246E-DD53-5655-535C59F48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54790D-AF6F-60DE-C12B-760357C7B62E}"/>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6" name="Footer Placeholder 5">
            <a:extLst>
              <a:ext uri="{FF2B5EF4-FFF2-40B4-BE49-F238E27FC236}">
                <a16:creationId xmlns:a16="http://schemas.microsoft.com/office/drawing/2014/main" id="{AD8563A5-383E-86C5-BB16-6A74EAAB4A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8358E2-4D68-68FD-C134-2B78CF3833A4}"/>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3656027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4F3BB-1FB0-63DE-61E3-B0BDFA6656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8A4A42-2BB5-2287-6FE1-B0F069E233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3F68FB-A78B-3EEE-DF14-44E02C1865E1}"/>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5D35ECFB-53D9-0965-E802-EF2C60F22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91672-7F0A-BE37-82E4-097C811FA60C}"/>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787261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519C-8E46-AEA7-9352-B3EE9D61AD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6EA21C-FB87-4C8D-F3FF-CB2E5FF01F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9212DB-EAD5-B1E7-5085-6A130C01CA63}"/>
              </a:ext>
            </a:extLst>
          </p:cNvPr>
          <p:cNvSpPr>
            <a:spLocks noGrp="1"/>
          </p:cNvSpPr>
          <p:nvPr>
            <p:ph type="dt" sz="half" idx="10"/>
          </p:nvPr>
        </p:nvSpPr>
        <p:spPr/>
        <p:txBody>
          <a:body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23B684A8-F72B-A62A-2810-D68EF87FA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6AF09-EA11-D0A7-F6F4-6866406F5961}"/>
              </a:ext>
            </a:extLst>
          </p:cNvPr>
          <p:cNvSpPr>
            <a:spLocks noGrp="1"/>
          </p:cNvSpPr>
          <p:nvPr>
            <p:ph type="sldNum" sz="quarter" idx="12"/>
          </p:nvPr>
        </p:nvSpPr>
        <p:spPr/>
        <p:txBody>
          <a:bodyPr/>
          <a:lstStyle/>
          <a:p>
            <a:fld id="{619AA15A-6008-44AA-AA9A-8441FDD700C5}" type="slidenum">
              <a:rPr lang="en-US" smtClean="0"/>
              <a:t>‹#›</a:t>
            </a:fld>
            <a:endParaRPr lang="en-US"/>
          </a:p>
        </p:txBody>
      </p:sp>
    </p:spTree>
    <p:extLst>
      <p:ext uri="{BB962C8B-B14F-4D97-AF65-F5344CB8AC3E}">
        <p14:creationId xmlns:p14="http://schemas.microsoft.com/office/powerpoint/2010/main" val="3804905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4B3603-41FF-46CC-4815-1147B18C71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2DED7E-8C03-571A-3632-DCB90DCE7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94413-55A2-FE17-6973-DD1443BB80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7D7E4F-A4A0-4140-BAAA-068D5056635F}" type="datetimeFigureOut">
              <a:rPr lang="en-US" smtClean="0"/>
              <a:t>7/2/2026</a:t>
            </a:fld>
            <a:endParaRPr lang="en-US"/>
          </a:p>
        </p:txBody>
      </p:sp>
      <p:sp>
        <p:nvSpPr>
          <p:cNvPr id="5" name="Footer Placeholder 4">
            <a:extLst>
              <a:ext uri="{FF2B5EF4-FFF2-40B4-BE49-F238E27FC236}">
                <a16:creationId xmlns:a16="http://schemas.microsoft.com/office/drawing/2014/main" id="{02DE5C89-2672-E072-7639-FECD477AC1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846A0A-EA07-362D-927B-4510129EA8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9AA15A-6008-44AA-AA9A-8441FDD700C5}" type="slidenum">
              <a:rPr lang="en-US" smtClean="0"/>
              <a:t>‹#›</a:t>
            </a:fld>
            <a:endParaRPr lang="en-US"/>
          </a:p>
        </p:txBody>
      </p:sp>
    </p:spTree>
    <p:extLst>
      <p:ext uri="{BB962C8B-B14F-4D97-AF65-F5344CB8AC3E}">
        <p14:creationId xmlns:p14="http://schemas.microsoft.com/office/powerpoint/2010/main" val="42429545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inancial graphs on a dark display">
            <a:extLst>
              <a:ext uri="{FF2B5EF4-FFF2-40B4-BE49-F238E27FC236}">
                <a16:creationId xmlns:a16="http://schemas.microsoft.com/office/drawing/2014/main" id="{53A7A5E6-D35E-CA9A-F312-9CE8F2AD7798}"/>
              </a:ext>
            </a:extLst>
          </p:cNvPr>
          <p:cNvPicPr>
            <a:picLocks noChangeAspect="1"/>
          </p:cNvPicPr>
          <p:nvPr/>
        </p:nvPicPr>
        <p:blipFill>
          <a:blip r:embed="rId2">
            <a:alphaModFix amt="50000"/>
          </a:blip>
          <a:srcRect t="1000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87A5A9C-7DF8-F24C-B3A2-30EF65202414}"/>
              </a:ext>
            </a:extLst>
          </p:cNvPr>
          <p:cNvSpPr>
            <a:spLocks noGrp="1"/>
          </p:cNvSpPr>
          <p:nvPr>
            <p:ph type="ctrTitle"/>
          </p:nvPr>
        </p:nvSpPr>
        <p:spPr>
          <a:xfrm>
            <a:off x="1524000" y="1122362"/>
            <a:ext cx="9144000" cy="2900518"/>
          </a:xfrm>
        </p:spPr>
        <p:txBody>
          <a:bodyPr>
            <a:normAutofit/>
          </a:bodyPr>
          <a:lstStyle/>
          <a:p>
            <a:r>
              <a:rPr lang="en-US">
                <a:solidFill>
                  <a:srgbClr val="FFFFFF"/>
                </a:solidFill>
              </a:rPr>
              <a:t>Superstore Sales Performance Dashboard</a:t>
            </a:r>
          </a:p>
        </p:txBody>
      </p:sp>
    </p:spTree>
    <p:extLst>
      <p:ext uri="{BB962C8B-B14F-4D97-AF65-F5344CB8AC3E}">
        <p14:creationId xmlns:p14="http://schemas.microsoft.com/office/powerpoint/2010/main" val="42085940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39FCB2-EE58-3F52-5C4C-D8EB15A7A521}"/>
              </a:ext>
            </a:extLst>
          </p:cNvPr>
          <p:cNvPicPr>
            <a:picLocks noChangeAspect="1"/>
          </p:cNvPicPr>
          <p:nvPr/>
        </p:nvPicPr>
        <p:blipFill>
          <a:blip r:embed="rId2">
            <a:alphaModFix amt="35000"/>
          </a:blip>
          <a:srcRect t="8537"/>
          <a:stretch>
            <a:fillRect/>
          </a:stretch>
        </p:blipFill>
        <p:spPr>
          <a:xfrm>
            <a:off x="20" y="10"/>
            <a:ext cx="12191980" cy="6857990"/>
          </a:xfrm>
          <a:prstGeom prst="rect">
            <a:avLst/>
          </a:prstGeom>
        </p:spPr>
      </p:pic>
      <p:sp>
        <p:nvSpPr>
          <p:cNvPr id="3" name="TextBox 2">
            <a:extLst>
              <a:ext uri="{FF2B5EF4-FFF2-40B4-BE49-F238E27FC236}">
                <a16:creationId xmlns:a16="http://schemas.microsoft.com/office/drawing/2014/main" id="{6599AAB1-738A-4372-1A19-15661CADF875}"/>
              </a:ext>
            </a:extLst>
          </p:cNvPr>
          <p:cNvSpPr txBox="1"/>
          <p:nvPr/>
        </p:nvSpPr>
        <p:spPr>
          <a:xfrm>
            <a:off x="196645" y="206478"/>
            <a:ext cx="11189109" cy="2292935"/>
          </a:xfrm>
          <a:prstGeom prst="rect">
            <a:avLst/>
          </a:prstGeom>
          <a:noFill/>
        </p:spPr>
        <p:txBody>
          <a:bodyPr wrap="square">
            <a:spAutoFit/>
          </a:bodyPr>
          <a:lstStyle/>
          <a:p>
            <a:pPr>
              <a:spcAft>
                <a:spcPts val="600"/>
              </a:spcAft>
            </a:pPr>
            <a:r>
              <a:rPr lang="en-US" sz="2800" b="1"/>
              <a:t>Tools Used</a:t>
            </a:r>
          </a:p>
          <a:p>
            <a:pPr marL="742950" lvl="1" indent="-285750">
              <a:spcAft>
                <a:spcPts val="600"/>
              </a:spcAft>
              <a:buFont typeface="Arial" panose="020B0604020202020204" pitchFamily="34" charset="0"/>
              <a:buChar char="•"/>
            </a:pPr>
            <a:r>
              <a:rPr lang="en-US"/>
              <a:t>Power BI</a:t>
            </a:r>
          </a:p>
          <a:p>
            <a:pPr marL="742950" lvl="1" indent="-285750">
              <a:spcAft>
                <a:spcPts val="600"/>
              </a:spcAft>
              <a:buFont typeface="Arial" panose="020B0604020202020204" pitchFamily="34" charset="0"/>
              <a:buChar char="•"/>
            </a:pPr>
            <a:r>
              <a:rPr lang="en-US"/>
              <a:t>Power Query</a:t>
            </a:r>
          </a:p>
          <a:p>
            <a:pPr marL="742950" lvl="1" indent="-285750">
              <a:spcAft>
                <a:spcPts val="600"/>
              </a:spcAft>
              <a:buFont typeface="Arial" panose="020B0604020202020204" pitchFamily="34" charset="0"/>
              <a:buChar char="•"/>
            </a:pPr>
            <a:r>
              <a:rPr lang="en-US"/>
              <a:t>DAX</a:t>
            </a:r>
          </a:p>
          <a:p>
            <a:pPr lvl="1">
              <a:spcAft>
                <a:spcPts val="600"/>
              </a:spcAft>
            </a:pPr>
            <a:endParaRPr lang="en-US"/>
          </a:p>
          <a:p>
            <a:pPr lvl="1">
              <a:spcAft>
                <a:spcPts val="600"/>
              </a:spcAft>
            </a:pPr>
            <a:endParaRPr lang="en-US"/>
          </a:p>
        </p:txBody>
      </p:sp>
      <p:graphicFrame>
        <p:nvGraphicFramePr>
          <p:cNvPr id="6" name="TextBox 3">
            <a:extLst>
              <a:ext uri="{FF2B5EF4-FFF2-40B4-BE49-F238E27FC236}">
                <a16:creationId xmlns:a16="http://schemas.microsoft.com/office/drawing/2014/main" id="{0AB78BA4-4AD3-1594-6EF1-A31225CE00E6}"/>
              </a:ext>
            </a:extLst>
          </p:cNvPr>
          <p:cNvGraphicFramePr/>
          <p:nvPr>
            <p:extLst>
              <p:ext uri="{D42A27DB-BD31-4B8C-83A1-F6EECF244321}">
                <p14:modId xmlns:p14="http://schemas.microsoft.com/office/powerpoint/2010/main" val="21383495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97980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67499747-6EF1-4D82-87D6-76E2A961E16E}"/>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3" name="TextBox 2">
            <a:extLst>
              <a:ext uri="{FF2B5EF4-FFF2-40B4-BE49-F238E27FC236}">
                <a16:creationId xmlns:a16="http://schemas.microsoft.com/office/drawing/2014/main" id="{14EC2842-D388-E7C6-AC7D-A5723F12C125}"/>
              </a:ext>
            </a:extLst>
          </p:cNvPr>
          <p:cNvSpPr txBox="1"/>
          <p:nvPr/>
        </p:nvSpPr>
        <p:spPr>
          <a:xfrm>
            <a:off x="838200" y="1825625"/>
            <a:ext cx="105156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solidFill>
                  <a:srgbClr val="FFFFFF"/>
                </a:solidFill>
              </a:rPr>
              <a:t> </a:t>
            </a:r>
            <a:r>
              <a:rPr lang="en-US" b="1">
                <a:solidFill>
                  <a:srgbClr val="FFFFFF"/>
                </a:solidFill>
              </a:rPr>
              <a:t>Project Objective</a:t>
            </a:r>
          </a:p>
          <a:p>
            <a:pPr indent="-228600">
              <a:lnSpc>
                <a:spcPct val="90000"/>
              </a:lnSpc>
              <a:spcAft>
                <a:spcPts val="600"/>
              </a:spcAft>
              <a:buFont typeface="Arial" panose="020B0604020202020204" pitchFamily="34" charset="0"/>
              <a:buChar char="•"/>
            </a:pPr>
            <a:r>
              <a:rPr lang="en-US" b="1">
                <a:solidFill>
                  <a:srgbClr val="FFFFFF"/>
                </a:solidFill>
              </a:rPr>
              <a:t> </a:t>
            </a:r>
            <a:r>
              <a:rPr lang="en-US">
                <a:solidFill>
                  <a:srgbClr val="FFFFFF"/>
                </a:solidFill>
              </a:rPr>
              <a:t>The objective of this project was to design an interactive Power BI dashboard for business stakeholders to monitor sales performance, profitability, customer segments, product categories, and regional performance. The dashboard enables users to explore data through interactive filters and supports data-driven decision-making.</a:t>
            </a:r>
          </a:p>
        </p:txBody>
      </p:sp>
    </p:spTree>
    <p:extLst>
      <p:ext uri="{BB962C8B-B14F-4D97-AF65-F5344CB8AC3E}">
        <p14:creationId xmlns:p14="http://schemas.microsoft.com/office/powerpoint/2010/main" val="248993163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CDC2EBBB-0E07-3C8E-4E16-A1F31E9887BA}"/>
              </a:ext>
            </a:extLst>
          </p:cNvPr>
          <p:cNvPicPr>
            <a:picLocks noChangeAspect="1"/>
          </p:cNvPicPr>
          <p:nvPr/>
        </p:nvPicPr>
        <p:blipFill>
          <a:blip r:embed="rId2">
            <a:alphaModFix amt="35000"/>
          </a:blip>
          <a:srcRect t="1220" b="14510"/>
          <a:stretch>
            <a:fillRect/>
          </a:stretch>
        </p:blipFill>
        <p:spPr>
          <a:xfrm>
            <a:off x="20" y="10"/>
            <a:ext cx="12191980" cy="6857990"/>
          </a:xfrm>
          <a:prstGeom prst="rect">
            <a:avLst/>
          </a:prstGeom>
        </p:spPr>
      </p:pic>
      <p:sp>
        <p:nvSpPr>
          <p:cNvPr id="3" name="TextBox 2">
            <a:extLst>
              <a:ext uri="{FF2B5EF4-FFF2-40B4-BE49-F238E27FC236}">
                <a16:creationId xmlns:a16="http://schemas.microsoft.com/office/drawing/2014/main" id="{6F7DCBEA-55B7-90B2-51AE-00A7E2A9F061}"/>
              </a:ext>
            </a:extLst>
          </p:cNvPr>
          <p:cNvSpPr txBox="1"/>
          <p:nvPr/>
        </p:nvSpPr>
        <p:spPr>
          <a:xfrm>
            <a:off x="838200" y="1825625"/>
            <a:ext cx="105156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solidFill>
                  <a:srgbClr val="FFFFFF"/>
                </a:solidFill>
              </a:rPr>
              <a:t>KPIs Used</a:t>
            </a:r>
          </a:p>
          <a:p>
            <a:pPr indent="-228600">
              <a:lnSpc>
                <a:spcPct val="90000"/>
              </a:lnSpc>
              <a:spcAft>
                <a:spcPts val="600"/>
              </a:spcAft>
              <a:buFont typeface="Arial" panose="020B0604020202020204" pitchFamily="34" charset="0"/>
              <a:buChar char="•"/>
            </a:pPr>
            <a:r>
              <a:rPr lang="en-US">
                <a:solidFill>
                  <a:srgbClr val="FFFFFF"/>
                </a:solidFill>
              </a:rPr>
              <a:t>The dashboard includes the following Key Performance Indicators (KPIs):</a:t>
            </a:r>
          </a:p>
          <a:p>
            <a:pPr marL="342900" indent="-228600">
              <a:lnSpc>
                <a:spcPct val="90000"/>
              </a:lnSpc>
              <a:spcAft>
                <a:spcPts val="600"/>
              </a:spcAft>
              <a:buFont typeface="Arial" panose="020B0604020202020204" pitchFamily="34" charset="0"/>
              <a:buChar char="•"/>
            </a:pPr>
            <a:r>
              <a:rPr lang="en-US">
                <a:solidFill>
                  <a:srgbClr val="FFFFFF"/>
                </a:solidFill>
              </a:rPr>
              <a:t>Total Sales</a:t>
            </a:r>
          </a:p>
          <a:p>
            <a:pPr marL="342900" indent="-228600">
              <a:lnSpc>
                <a:spcPct val="90000"/>
              </a:lnSpc>
              <a:spcAft>
                <a:spcPts val="600"/>
              </a:spcAft>
              <a:buFont typeface="Arial" panose="020B0604020202020204" pitchFamily="34" charset="0"/>
              <a:buChar char="•"/>
            </a:pPr>
            <a:r>
              <a:rPr lang="en-US">
                <a:solidFill>
                  <a:srgbClr val="FFFFFF"/>
                </a:solidFill>
              </a:rPr>
              <a:t>Total Profit</a:t>
            </a:r>
          </a:p>
          <a:p>
            <a:pPr marL="342900" indent="-228600">
              <a:lnSpc>
                <a:spcPct val="90000"/>
              </a:lnSpc>
              <a:spcAft>
                <a:spcPts val="600"/>
              </a:spcAft>
              <a:buFont typeface="Arial" panose="020B0604020202020204" pitchFamily="34" charset="0"/>
              <a:buChar char="•"/>
            </a:pPr>
            <a:r>
              <a:rPr lang="en-US">
                <a:solidFill>
                  <a:srgbClr val="FFFFFF"/>
                </a:solidFill>
              </a:rPr>
              <a:t>Total Orders</a:t>
            </a:r>
          </a:p>
          <a:p>
            <a:pPr marL="342900" indent="-228600">
              <a:lnSpc>
                <a:spcPct val="90000"/>
              </a:lnSpc>
              <a:spcAft>
                <a:spcPts val="600"/>
              </a:spcAft>
              <a:buFont typeface="Arial" panose="020B0604020202020204" pitchFamily="34" charset="0"/>
              <a:buChar char="•"/>
            </a:pPr>
            <a:r>
              <a:rPr lang="en-US">
                <a:solidFill>
                  <a:srgbClr val="FFFFFF"/>
                </a:solidFill>
              </a:rPr>
              <a:t>Profit Margin</a:t>
            </a:r>
          </a:p>
          <a:p>
            <a:pPr marL="342900" indent="-228600">
              <a:lnSpc>
                <a:spcPct val="90000"/>
              </a:lnSpc>
              <a:spcAft>
                <a:spcPts val="600"/>
              </a:spcAft>
              <a:buFont typeface="Arial" panose="020B0604020202020204" pitchFamily="34" charset="0"/>
              <a:buChar char="•"/>
            </a:pPr>
            <a:r>
              <a:rPr lang="en-US">
                <a:solidFill>
                  <a:srgbClr val="FFFFFF"/>
                </a:solidFill>
              </a:rPr>
              <a:t>Average Discount</a:t>
            </a:r>
          </a:p>
          <a:p>
            <a:pPr marL="342900" indent="-228600">
              <a:lnSpc>
                <a:spcPct val="90000"/>
              </a:lnSpc>
              <a:spcAft>
                <a:spcPts val="600"/>
              </a:spcAft>
              <a:buFont typeface="Arial" panose="020B0604020202020204" pitchFamily="34" charset="0"/>
              <a:buChar char="•"/>
            </a:pPr>
            <a:r>
              <a:rPr lang="en-US">
                <a:solidFill>
                  <a:srgbClr val="FFFFFF"/>
                </a:solidFill>
              </a:rPr>
              <a:t>Average Order Value</a:t>
            </a:r>
          </a:p>
          <a:p>
            <a:pPr indent="-228600">
              <a:lnSpc>
                <a:spcPct val="90000"/>
              </a:lnSpc>
              <a:spcAft>
                <a:spcPts val="600"/>
              </a:spcAft>
              <a:buFont typeface="Arial" panose="020B0604020202020204" pitchFamily="34" charset="0"/>
              <a:buChar char="•"/>
            </a:pPr>
            <a:endParaRPr lang="en-US">
              <a:solidFill>
                <a:srgbClr val="FFFFFF"/>
              </a:solidFill>
            </a:endParaRPr>
          </a:p>
          <a:p>
            <a:pPr indent="-228600">
              <a:lnSpc>
                <a:spcPct val="90000"/>
              </a:lnSpc>
              <a:spcAft>
                <a:spcPts val="600"/>
              </a:spcAft>
              <a:buFont typeface="Arial" panose="020B0604020202020204" pitchFamily="34" charset="0"/>
              <a:buChar char="•"/>
            </a:pPr>
            <a:endParaRPr lang="en-US">
              <a:solidFill>
                <a:srgbClr val="FFFFFF"/>
              </a:solidFill>
            </a:endParaRPr>
          </a:p>
          <a:p>
            <a:pPr indent="-228600">
              <a:lnSpc>
                <a:spcPct val="90000"/>
              </a:lnSpc>
              <a:spcAft>
                <a:spcPts val="600"/>
              </a:spcAft>
              <a:buFont typeface="Arial" panose="020B0604020202020204" pitchFamily="34" charset="0"/>
              <a:buChar char="•"/>
            </a:pPr>
            <a:endParaRPr lang="en-US">
              <a:solidFill>
                <a:srgbClr val="FFFFFF"/>
              </a:solidFill>
            </a:endParaRPr>
          </a:p>
          <a:p>
            <a:pPr indent="-228600">
              <a:lnSpc>
                <a:spcPct val="90000"/>
              </a:lnSpc>
              <a:spcAft>
                <a:spcPts val="600"/>
              </a:spcAft>
              <a:buFont typeface="Arial" panose="020B0604020202020204" pitchFamily="34" charset="0"/>
              <a:buChar char="•"/>
            </a:pPr>
            <a:r>
              <a:rPr lang="en-US">
                <a:solidFill>
                  <a:srgbClr val="FFFFFF"/>
                </a:solidFill>
              </a:rPr>
              <a:t>These KPIs provide a high-level overview of business performance.</a:t>
            </a:r>
          </a:p>
        </p:txBody>
      </p:sp>
    </p:spTree>
    <p:extLst>
      <p:ext uri="{BB962C8B-B14F-4D97-AF65-F5344CB8AC3E}">
        <p14:creationId xmlns:p14="http://schemas.microsoft.com/office/powerpoint/2010/main" val="150012558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CA7C05-C27D-BF36-F3EA-46C2C9BA2AF6}"/>
              </a:ext>
            </a:extLst>
          </p:cNvPr>
          <p:cNvSpPr txBox="1"/>
          <p:nvPr/>
        </p:nvSpPr>
        <p:spPr>
          <a:xfrm>
            <a:off x="761802" y="2743200"/>
            <a:ext cx="4646905" cy="361314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b="1"/>
              <a:t>Dashboard Features</a:t>
            </a:r>
          </a:p>
          <a:p>
            <a:pPr indent="-228600">
              <a:lnSpc>
                <a:spcPct val="90000"/>
              </a:lnSpc>
              <a:spcAft>
                <a:spcPts val="600"/>
              </a:spcAft>
              <a:buFont typeface="Arial" panose="020B0604020202020204" pitchFamily="34" charset="0"/>
              <a:buChar char="•"/>
            </a:pPr>
            <a:r>
              <a:rPr lang="en-US" sz="1900"/>
              <a:t>The dashboard includes several interactive features:</a:t>
            </a:r>
          </a:p>
          <a:p>
            <a:pPr marL="342900" indent="-228600">
              <a:lnSpc>
                <a:spcPct val="90000"/>
              </a:lnSpc>
              <a:spcAft>
                <a:spcPts val="600"/>
              </a:spcAft>
              <a:buFont typeface="Arial" panose="020B0604020202020204" pitchFamily="34" charset="0"/>
              <a:buChar char="•"/>
            </a:pPr>
            <a:r>
              <a:rPr lang="en-US" sz="1900"/>
              <a:t>KPI Cards for business summary</a:t>
            </a:r>
          </a:p>
          <a:p>
            <a:pPr marL="342900" indent="-228600">
              <a:lnSpc>
                <a:spcPct val="90000"/>
              </a:lnSpc>
              <a:spcAft>
                <a:spcPts val="600"/>
              </a:spcAft>
              <a:buFont typeface="Arial" panose="020B0604020202020204" pitchFamily="34" charset="0"/>
              <a:buChar char="•"/>
            </a:pPr>
            <a:r>
              <a:rPr lang="en-US" sz="1900"/>
              <a:t>Interactive slicers for Segment, Region, and Category</a:t>
            </a:r>
          </a:p>
          <a:p>
            <a:pPr marL="342900" indent="-228600">
              <a:lnSpc>
                <a:spcPct val="90000"/>
              </a:lnSpc>
              <a:spcAft>
                <a:spcPts val="600"/>
              </a:spcAft>
              <a:buFont typeface="Arial" panose="020B0604020202020204" pitchFamily="34" charset="0"/>
              <a:buChar char="•"/>
            </a:pPr>
            <a:r>
              <a:rPr lang="en-US" sz="1900"/>
              <a:t>Sales vs Profit by Category</a:t>
            </a:r>
          </a:p>
          <a:p>
            <a:pPr marL="342900" indent="-228600">
              <a:lnSpc>
                <a:spcPct val="90000"/>
              </a:lnSpc>
              <a:spcAft>
                <a:spcPts val="600"/>
              </a:spcAft>
              <a:buFont typeface="Arial" panose="020B0604020202020204" pitchFamily="34" charset="0"/>
              <a:buChar char="•"/>
            </a:pPr>
            <a:r>
              <a:rPr lang="en-US" sz="1900"/>
              <a:t>Sales vs Profit by Segment</a:t>
            </a:r>
          </a:p>
          <a:p>
            <a:pPr marL="342900" indent="-228600">
              <a:lnSpc>
                <a:spcPct val="90000"/>
              </a:lnSpc>
              <a:spcAft>
                <a:spcPts val="600"/>
              </a:spcAft>
              <a:buFont typeface="Arial" panose="020B0604020202020204" pitchFamily="34" charset="0"/>
              <a:buChar char="•"/>
            </a:pPr>
            <a:r>
              <a:rPr lang="en-US" sz="1900"/>
              <a:t>Profit by Sub-Category</a:t>
            </a:r>
          </a:p>
          <a:p>
            <a:pPr marL="342900" indent="-228600">
              <a:lnSpc>
                <a:spcPct val="90000"/>
              </a:lnSpc>
              <a:spcAft>
                <a:spcPts val="600"/>
              </a:spcAft>
              <a:buFont typeface="Arial" panose="020B0604020202020204" pitchFamily="34" charset="0"/>
              <a:buChar char="•"/>
            </a:pPr>
            <a:r>
              <a:rPr lang="en-US" sz="1900"/>
              <a:t>Top 10 States by Sales</a:t>
            </a:r>
          </a:p>
          <a:p>
            <a:pPr marL="342900" indent="-228600">
              <a:lnSpc>
                <a:spcPct val="90000"/>
              </a:lnSpc>
              <a:spcAft>
                <a:spcPts val="600"/>
              </a:spcAft>
              <a:buFont typeface="Arial" panose="020B0604020202020204" pitchFamily="34" charset="0"/>
              <a:buChar char="•"/>
            </a:pPr>
            <a:r>
              <a:rPr lang="en-US" sz="1900"/>
              <a:t>Discount vs Profit Analysis</a:t>
            </a:r>
          </a:p>
        </p:txBody>
      </p:sp>
      <p:pic>
        <p:nvPicPr>
          <p:cNvPr id="5" name="Picture 4" descr="Graph">
            <a:extLst>
              <a:ext uri="{FF2B5EF4-FFF2-40B4-BE49-F238E27FC236}">
                <a16:creationId xmlns:a16="http://schemas.microsoft.com/office/drawing/2014/main" id="{D108B4C1-E621-FB02-52C3-1729FFDA84C0}"/>
              </a:ext>
            </a:extLst>
          </p:cNvPr>
          <p:cNvPicPr>
            <a:picLocks noChangeAspect="1"/>
          </p:cNvPicPr>
          <p:nvPr/>
        </p:nvPicPr>
        <p:blipFill>
          <a:blip r:embed="rId2"/>
          <a:srcRect l="16558" r="27824"/>
          <a:stretch>
            <a:fillRect/>
          </a:stretch>
        </p:blipFill>
        <p:spPr>
          <a:xfrm>
            <a:off x="6096000" y="1"/>
            <a:ext cx="6102825" cy="6858000"/>
          </a:xfrm>
          <a:prstGeom prst="rect">
            <a:avLst/>
          </a:prstGeom>
        </p:spPr>
      </p:pic>
    </p:spTree>
    <p:extLst>
      <p:ext uri="{BB962C8B-B14F-4D97-AF65-F5344CB8AC3E}">
        <p14:creationId xmlns:p14="http://schemas.microsoft.com/office/powerpoint/2010/main" val="2519369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9D9FDBE-2252-2B1B-9025-3FFB3AFCD2D6}"/>
              </a:ext>
            </a:extLst>
          </p:cNvPr>
          <p:cNvPicPr>
            <a:picLocks noChangeAspect="1"/>
          </p:cNvPicPr>
          <p:nvPr/>
        </p:nvPicPr>
        <p:blipFill>
          <a:blip r:embed="rId2">
            <a:alphaModFix amt="35000"/>
          </a:blip>
          <a:srcRect b="15730"/>
          <a:stretch>
            <a:fillRect/>
          </a:stretch>
        </p:blipFill>
        <p:spPr>
          <a:xfrm>
            <a:off x="20" y="10"/>
            <a:ext cx="12191980" cy="6857990"/>
          </a:xfrm>
          <a:prstGeom prst="rect">
            <a:avLst/>
          </a:prstGeom>
        </p:spPr>
      </p:pic>
      <p:graphicFrame>
        <p:nvGraphicFramePr>
          <p:cNvPr id="13" name="TextBox 2">
            <a:extLst>
              <a:ext uri="{FF2B5EF4-FFF2-40B4-BE49-F238E27FC236}">
                <a16:creationId xmlns:a16="http://schemas.microsoft.com/office/drawing/2014/main" id="{84083C19-8275-C81A-4EE3-9453F85CD7E1}"/>
              </a:ext>
            </a:extLst>
          </p:cNvPr>
          <p:cNvGraphicFramePr/>
          <p:nvPr>
            <p:extLst>
              <p:ext uri="{D42A27DB-BD31-4B8C-83A1-F6EECF244321}">
                <p14:modId xmlns:p14="http://schemas.microsoft.com/office/powerpoint/2010/main" val="14357102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949895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5FFA0B3-7571-7306-5BFF-47483646A545}"/>
              </a:ext>
            </a:extLst>
          </p:cNvPr>
          <p:cNvPicPr>
            <a:picLocks noChangeAspect="1"/>
          </p:cNvPicPr>
          <p:nvPr/>
        </p:nvPicPr>
        <p:blipFill>
          <a:blip r:embed="rId2">
            <a:alphaModFix amt="35000"/>
          </a:blip>
          <a:srcRect t="8268" b="7146"/>
          <a:stretch>
            <a:fillRect/>
          </a:stretch>
        </p:blipFill>
        <p:spPr>
          <a:xfrm>
            <a:off x="20" y="10"/>
            <a:ext cx="12191980" cy="6857990"/>
          </a:xfrm>
          <a:prstGeom prst="rect">
            <a:avLst/>
          </a:prstGeom>
        </p:spPr>
      </p:pic>
      <p:graphicFrame>
        <p:nvGraphicFramePr>
          <p:cNvPr id="5" name="TextBox 2">
            <a:extLst>
              <a:ext uri="{FF2B5EF4-FFF2-40B4-BE49-F238E27FC236}">
                <a16:creationId xmlns:a16="http://schemas.microsoft.com/office/drawing/2014/main" id="{545C35BE-F81B-36BC-1F97-FC186A25330C}"/>
              </a:ext>
            </a:extLst>
          </p:cNvPr>
          <p:cNvGraphicFramePr/>
          <p:nvPr>
            <p:extLst>
              <p:ext uri="{D42A27DB-BD31-4B8C-83A1-F6EECF244321}">
                <p14:modId xmlns:p14="http://schemas.microsoft.com/office/powerpoint/2010/main" val="192729349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429493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638E649-750B-6E1A-87FB-4C1E84B9FDD4}"/>
              </a:ext>
            </a:extLst>
          </p:cNvPr>
          <p:cNvSpPr txBox="1"/>
          <p:nvPr/>
        </p:nvSpPr>
        <p:spPr>
          <a:xfrm>
            <a:off x="1392667" y="2398957"/>
            <a:ext cx="9406666" cy="3526144"/>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a:solidFill>
                  <a:schemeClr val="bg1"/>
                </a:solidFill>
              </a:rPr>
              <a:t>Limitations</a:t>
            </a:r>
          </a:p>
          <a:p>
            <a:pPr marL="342900" indent="-228600">
              <a:lnSpc>
                <a:spcPct val="90000"/>
              </a:lnSpc>
              <a:spcAft>
                <a:spcPts val="600"/>
              </a:spcAft>
              <a:buFont typeface="Arial" panose="020B0604020202020204" pitchFamily="34" charset="0"/>
              <a:buChar char="•"/>
            </a:pPr>
            <a:r>
              <a:rPr lang="en-US" sz="2000">
                <a:solidFill>
                  <a:schemeClr val="bg1"/>
                </a:solidFill>
              </a:rPr>
              <a:t>The dataset does not contain a Date or Order Date column. As a result:</a:t>
            </a:r>
          </a:p>
          <a:p>
            <a:pPr marL="342900" indent="-228600">
              <a:lnSpc>
                <a:spcPct val="90000"/>
              </a:lnSpc>
              <a:spcAft>
                <a:spcPts val="600"/>
              </a:spcAft>
              <a:buFont typeface="Arial" panose="020B0604020202020204" pitchFamily="34" charset="0"/>
              <a:buChar char="•"/>
            </a:pPr>
            <a:r>
              <a:rPr lang="en-US" sz="2000">
                <a:solidFill>
                  <a:schemeClr val="bg1"/>
                </a:solidFill>
              </a:rPr>
              <a:t>Time-series analysis could not be performed.</a:t>
            </a:r>
          </a:p>
          <a:p>
            <a:pPr marL="342900" indent="-228600">
              <a:lnSpc>
                <a:spcPct val="90000"/>
              </a:lnSpc>
              <a:spcAft>
                <a:spcPts val="600"/>
              </a:spcAft>
              <a:buFont typeface="Arial" panose="020B0604020202020204" pitchFamily="34" charset="0"/>
              <a:buChar char="•"/>
            </a:pPr>
            <a:r>
              <a:rPr lang="en-US" sz="2000">
                <a:solidFill>
                  <a:schemeClr val="bg1"/>
                </a:solidFill>
              </a:rPr>
              <a:t>Growth trends and year-over-year comparisons could not be included.</a:t>
            </a:r>
          </a:p>
          <a:p>
            <a:pPr marL="342900" indent="-228600">
              <a:lnSpc>
                <a:spcPct val="90000"/>
              </a:lnSpc>
              <a:spcAft>
                <a:spcPts val="600"/>
              </a:spcAft>
              <a:buFont typeface="Arial" panose="020B0604020202020204" pitchFamily="34" charset="0"/>
              <a:buChar char="•"/>
            </a:pPr>
            <a:r>
              <a:rPr lang="en-US" sz="2000">
                <a:solidFill>
                  <a:schemeClr val="bg1"/>
                </a:solidFill>
              </a:rPr>
              <a:t>A sales trend line chart could not be created.</a:t>
            </a:r>
          </a:p>
          <a:p>
            <a:pPr marL="342900" indent="-228600">
              <a:lnSpc>
                <a:spcPct val="90000"/>
              </a:lnSpc>
              <a:spcAft>
                <a:spcPts val="600"/>
              </a:spcAft>
              <a:buFont typeface="Arial" panose="020B0604020202020204" pitchFamily="34" charset="0"/>
              <a:buChar char="•"/>
            </a:pPr>
            <a:r>
              <a:rPr lang="en-US" sz="2000">
                <a:solidFill>
                  <a:schemeClr val="bg1"/>
                </a:solidFill>
              </a:rPr>
              <a:t>Despite this limitation, the dashboard effectively supports interactive analysis using the available business dimensions.</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5607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TotalTime>
  <Words>319</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Superstore Sales Performance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uneezah arab</dc:creator>
  <cp:lastModifiedBy>uneezah arab</cp:lastModifiedBy>
  <cp:revision>1</cp:revision>
  <dcterms:created xsi:type="dcterms:W3CDTF">2026-07-02T10:34:16Z</dcterms:created>
  <dcterms:modified xsi:type="dcterms:W3CDTF">2026-07-02T10:57:38Z</dcterms:modified>
</cp:coreProperties>
</file>